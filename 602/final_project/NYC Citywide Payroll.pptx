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58" r:id="rId5"/>
    <p:sldId id="259" r:id="rId6"/>
    <p:sldId id="274" r:id="rId7"/>
    <p:sldId id="260" r:id="rId8"/>
    <p:sldId id="261" r:id="rId9"/>
    <p:sldId id="275" r:id="rId10"/>
    <p:sldId id="262" r:id="rId11"/>
    <p:sldId id="256" r:id="rId12"/>
    <p:sldId id="276" r:id="rId13"/>
    <p:sldId id="277" r:id="rId14"/>
    <p:sldId id="268" r:id="rId15"/>
    <p:sldId id="267" r:id="rId16"/>
    <p:sldId id="264" r:id="rId17"/>
    <p:sldId id="263" r:id="rId18"/>
    <p:sldId id="278" r:id="rId19"/>
    <p:sldId id="270" r:id="rId20"/>
    <p:sldId id="269" r:id="rId21"/>
    <p:sldId id="266" r:id="rId22"/>
    <p:sldId id="26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4890-D8B5-7F05-5DA2-7086EE562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A4209-9D46-C03D-CBA4-C44946BB4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292FB-B940-A083-72AD-5524682D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3D29-966B-379A-2268-DF6E5AA2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ADCF-87B4-10D6-65EF-20D0BE1C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1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E6D6-00AD-1FB2-CC46-75B69E5E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AD7E6-0529-2639-D7CE-A4450705F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7807F-9F6D-1855-40DD-78570D848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195F-B4F2-81DD-0D06-32B5E53B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FFC8F-07F3-4F67-5FDE-1E9206E7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F3C5-73C6-2B6F-AE3B-FF4E8719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C1871-1106-252A-A37D-A9FF4B077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9824-0BD9-0E4E-F568-1301487B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E933-484C-F4E7-AEFC-EBD47AE5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1D922-B2D9-7EF8-B8A7-8B4E16DB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4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AA90-BB72-6419-3B92-727A5537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93401-CFDC-85CE-33AA-F552F210D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281D3-4219-4757-9EA5-DFBFCF7A1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05062-59D1-B9B1-DCD3-DC9E92B0B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D3382-4D51-A35B-903E-CCD1B904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FA860-D453-B34E-D2A6-37785E61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F156-0028-85CA-B9AE-F67B3E11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B6B5F-942F-2299-8B89-75577513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76DA1-6DB7-CBA1-61E5-78A0ADE14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B833E-A815-2DC4-F391-631B0D643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E4D1-F3AD-68A4-7409-AE687F0C1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3711A-8E1B-D7FD-36C5-182E3195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D7901-FCD5-FECD-94D8-5BB47070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F7E99-4F25-E58B-8F18-41AFD10A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5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262C-B246-D9D1-B773-762785C1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4A06-D91B-7A40-DEC8-0F9BC82E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8ABE7-DD24-2E0F-F4E4-EFC952BD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526FB-53F1-F5D4-0A98-CD22C1BB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8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CB1EA-75CF-EE49-1CE1-34DFBC01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C2B75-565A-A46F-B7F2-83FFD1B1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4628E-9D27-D673-1758-01FC1495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0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99F0-1775-5446-3059-503DBC92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0E32C-DF76-C1A2-8BB9-74AA077E3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B5AAF-7388-E273-8B94-08633B83A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4EC78-2493-DC28-AEC9-D96D6117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C8A1C-B5D1-B98E-DF22-E08381DA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093D8-1CD4-D50C-CB51-D7AA3595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2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3D2F-BA57-45C1-1BF4-3FF2E49C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7097A-B960-E742-8439-E3E8F8921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4FE98-A9FB-23EC-9E27-23B6B37F6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F7D5B-6AC3-C3DE-5DF5-39B02C43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779FA-89C5-0A6B-E1E9-FFE0D25F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C8B55-8DF9-64B8-BB0F-BF18F638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6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0E8D-0B2C-87EE-BC98-76E46F5B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2145E-A3AC-D996-1164-7CAF5EE45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BFE82-1020-CAFA-7B93-446A2C56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B00EB-8EB6-3A0F-9DD0-A7D37438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51841-C3FB-4B39-2921-4EBE9DB6D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1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CAE37-CE21-6FAD-A575-8279E26DF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2B8B2-F738-9BD6-1741-A58DCF566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0D7ED-55BD-0303-916A-E16AD517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9C614-E4AB-DA69-9A18-E2CFC5D6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468D7-34EC-0D2A-C014-133E8FB6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47BA1-202B-9086-044F-F48C0A7F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6D085-9B43-5098-0C21-1B2CC1701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6E43B-DDF8-02FA-E73D-6BA05462B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C3651-A54C-424B-AD5C-7DCFB5F1FB4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832C6-C789-561C-F51F-947BE4BDA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373F-1C84-1D2C-2D5E-B60CC6E5A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ACB83-AAB5-4500-AD4B-F1594926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609600" y="1600200"/>
            <a:ext cx="3200000" cy="5400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00000"/>
            <a:ext cx="10972800" cy="1600000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4000" b="1" dirty="0">
                <a:solidFill>
                  <a:srgbClr val="F2F2F2"/>
                </a:solidFill>
                <a:latin typeface="Georgia"/>
                <a:cs typeface="Georgia"/>
              </a:rPr>
              <a:t>NYC Citywide Payroll</a:t>
            </a:r>
          </a:p>
          <a:p>
            <a:pPr algn="l"/>
            <a:r>
              <a:rPr lang="en-US" sz="4000" b="1" dirty="0">
                <a:solidFill>
                  <a:srgbClr val="F2F2F2"/>
                </a:solidFill>
                <a:latin typeface="Georgia"/>
                <a:cs typeface="Georgia"/>
              </a:rPr>
              <a:t>Data Analysis</a:t>
            </a:r>
          </a:p>
        </p:txBody>
      </p:sp>
      <p:sp>
        <p:nvSpPr>
          <p:cNvPr id="3" name="Subtitle"/>
          <p:cNvSpPr/>
          <p:nvPr/>
        </p:nvSpPr>
        <p:spPr>
          <a:xfrm>
            <a:off x="609600" y="3500000"/>
            <a:ext cx="109728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noAutofit/>
          </a:bodyPr>
          <a:lstStyle/>
          <a:p>
            <a:pPr algn="l"/>
            <a:r>
              <a:rPr lang="en-US" sz="1800" dirty="0">
                <a:solidFill>
                  <a:srgbClr val="C8DBC9"/>
                </a:solidFill>
                <a:latin typeface="Calibri"/>
                <a:cs typeface="Calibri"/>
              </a:rPr>
              <a:t>Agency Compensation &amp; Data Science Salary Analysis</a:t>
            </a:r>
          </a:p>
          <a:p>
            <a:pPr algn="l"/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Fiscal Year 2025  |  NYC OpenData  |  Office of Payroll Administration</a:t>
            </a:r>
          </a:p>
        </p:txBody>
      </p:sp>
      <p:sp>
        <p:nvSpPr>
          <p:cNvPr id="4" name="Name"/>
          <p:cNvSpPr/>
          <p:nvPr/>
        </p:nvSpPr>
        <p:spPr>
          <a:xfrm>
            <a:off x="609600" y="45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E0E0E0"/>
                </a:solidFill>
                <a:latin typeface="Calibri"/>
                <a:cs typeface="Calibri"/>
              </a:rPr>
              <a:t>[Your Name]</a:t>
            </a:r>
          </a:p>
        </p:txBody>
      </p:sp>
    </p:spTree>
    <p:extLst>
      <p:ext uri="{BB962C8B-B14F-4D97-AF65-F5344CB8AC3E}">
        <p14:creationId xmlns:p14="http://schemas.microsoft.com/office/powerpoint/2010/main" val="136603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Research Questions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Guiding the analysis of NYC payroll data</a:t>
            </a:r>
          </a:p>
        </p:txBody>
      </p:sp>
      <p:sp>
        <p:nvSpPr>
          <p:cNvPr id="40" name="Q1Card"/>
          <p:cNvSpPr/>
          <p:nvPr/>
        </p:nvSpPr>
        <p:spPr>
          <a:xfrm>
            <a:off x="609600" y="1250000"/>
            <a:ext cx="10972800" cy="1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216000" tIns="144000" rIns="216000" bIns="14400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01</a:t>
            </a:r>
          </a:p>
          <a:p>
            <a:pPr algn="l"/>
            <a:r>
              <a:rPr lang="en-US" sz="1600" b="1" dirty="0">
                <a:solidFill>
                  <a:srgbClr val="36454F"/>
                </a:solidFill>
                <a:latin typeface="Calibri"/>
                <a:cs typeface="Calibri"/>
              </a:rPr>
              <a:t>Which agencies spend the most on employee compensation?</a:t>
            </a:r>
          </a:p>
          <a:p>
            <a:pPr algn="l"/>
            <a:r>
              <a:rPr lang="en-US" sz="1200" dirty="0">
                <a:solidFill>
                  <a:srgbClr val="7A8A8E"/>
                </a:solidFill>
                <a:latin typeface="Calibri"/>
                <a:cs typeface="Calibri"/>
              </a:rPr>
              <a:t>Analyzing total base salary expenditure across all NYC agencies</a:t>
            </a:r>
          </a:p>
        </p:txBody>
      </p:sp>
      <p:sp>
        <p:nvSpPr>
          <p:cNvPr id="41" name="Q2Card"/>
          <p:cNvSpPr/>
          <p:nvPr/>
        </p:nvSpPr>
        <p:spPr>
          <a:xfrm>
            <a:off x="609600" y="2700000"/>
            <a:ext cx="10972800" cy="1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216000" tIns="144000" rIns="216000" bIns="14400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02</a:t>
            </a:r>
          </a:p>
          <a:p>
            <a:pPr algn="l"/>
            <a:r>
              <a:rPr lang="en-US" sz="1600" b="1" dirty="0">
                <a:solidFill>
                  <a:srgbClr val="36454F"/>
                </a:solidFill>
                <a:latin typeface="Calibri"/>
                <a:cs typeface="Calibri"/>
              </a:rPr>
              <a:t>Which agencies have the highest average salaries?</a:t>
            </a:r>
          </a:p>
          <a:p>
            <a:pPr algn="l"/>
            <a:r>
              <a:rPr lang="en-US" sz="1200" dirty="0">
                <a:solidFill>
                  <a:srgbClr val="7A8A8E"/>
                </a:solidFill>
                <a:latin typeface="Calibri"/>
                <a:cs typeface="Calibri"/>
              </a:rPr>
              <a:t>Comparing mean base salary across agencies with 50+ employees</a:t>
            </a:r>
          </a:p>
        </p:txBody>
      </p:sp>
      <p:sp>
        <p:nvSpPr>
          <p:cNvPr id="42" name="Q3Card"/>
          <p:cNvSpPr/>
          <p:nvPr/>
        </p:nvSpPr>
        <p:spPr>
          <a:xfrm>
            <a:off x="609600" y="4150000"/>
            <a:ext cx="10972800" cy="1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216000" tIns="144000" rIns="216000" bIns="14400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03</a:t>
            </a:r>
          </a:p>
          <a:p>
            <a:pPr algn="l"/>
            <a:r>
              <a:rPr lang="en-US" sz="1600" b="1" dirty="0">
                <a:solidFill>
                  <a:srgbClr val="36454F"/>
                </a:solidFill>
                <a:latin typeface="Calibri"/>
                <a:cs typeface="Calibri"/>
              </a:rPr>
              <a:t>Among data science-related titles, which agencies offer the highest compensation?</a:t>
            </a:r>
          </a:p>
          <a:p>
            <a:pPr algn="l"/>
            <a:r>
              <a:rPr lang="en-US" sz="1200" dirty="0">
                <a:solidFill>
                  <a:srgbClr val="7A8A8E"/>
                </a:solidFill>
                <a:latin typeface="Calibri"/>
                <a:cs typeface="Calibri"/>
              </a:rPr>
              <a:t>Focusing on Data Analyst, City Research Scientist, Research Scientist, Statistician, and IT Project Specialist</a:t>
            </a:r>
          </a:p>
        </p:txBody>
      </p:sp>
      <p:sp>
        <p:nvSpPr>
          <p:cNvPr id="43" name="Justification"/>
          <p:cNvSpPr/>
          <p:nvPr/>
        </p:nvSpPr>
        <p:spPr>
          <a:xfrm>
            <a:off x="609600" y="57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00" i="1" dirty="0">
                <a:solidFill>
                  <a:srgbClr val="7A8A8E"/>
                </a:solidFill>
                <a:latin typeface="Calibri"/>
                <a:cs typeface="Calibri"/>
              </a:rPr>
              <a:t>As a City of New York employee, I’m personally interested in understanding the salary landscape across agencies and how data-focused roles compare.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Data Source &amp; Methodology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NYC OpenData  •  Office of Payroll Administration</a:t>
            </a:r>
          </a:p>
        </p:txBody>
      </p:sp>
      <p:sp>
        <p:nvSpPr>
          <p:cNvPr id="50" name="SourceCard"/>
          <p:cNvSpPr/>
          <p:nvPr/>
        </p:nvSpPr>
        <p:spPr>
          <a:xfrm>
            <a:off x="609600" y="1250000"/>
            <a:ext cx="5300000" cy="2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216000" tIns="180000" rIns="216000" bIns="18000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PRIMARY DATASET</a:t>
            </a:r>
          </a:p>
          <a:p>
            <a:pPr algn="l"/>
            <a:r>
              <a:rPr lang="en-US" sz="1600" b="1" dirty="0">
                <a:solidFill>
                  <a:srgbClr val="36454F"/>
                </a:solidFill>
                <a:latin typeface="Calibri"/>
                <a:cs typeface="Calibri"/>
              </a:rPr>
              <a:t>Citywide Payroll Data</a:t>
            </a:r>
          </a:p>
          <a:p>
            <a:pPr algn="l"/>
            <a:r>
              <a:rPr lang="en-US" sz="1200" dirty="0">
                <a:solidFill>
                  <a:srgbClr val="5A6A6E"/>
                </a:solidFill>
                <a:latin typeface="Calibri"/>
                <a:cs typeface="Calibri"/>
              </a:rPr>
              <a:t>Published by NYC’s Office of Payroll Administration (OPA) through the NYC OpenData portal. Includes payroll records for all city employees across every agency.</a:t>
            </a:r>
          </a:p>
          <a:p>
            <a:pPr algn="l"/>
            <a:r>
              <a:rPr lang="en-US" sz="1100" dirty="0">
                <a:solidFill>
                  <a:srgbClr val="7A8A8E"/>
                </a:solidFill>
                <a:latin typeface="Calibri"/>
                <a:cs typeface="Calibri"/>
              </a:rPr>
              <a:t>data.cityofnewyork.us</a:t>
            </a:r>
          </a:p>
        </p:txBody>
      </p:sp>
      <p:sp>
        <p:nvSpPr>
          <p:cNvPr id="51" name="FieldsCard"/>
          <p:cNvSpPr/>
          <p:nvPr/>
        </p:nvSpPr>
        <p:spPr>
          <a:xfrm>
            <a:off x="6282400" y="1250000"/>
            <a:ext cx="5300000" cy="2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216000" tIns="180000" rIns="216000" bIns="18000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KEY FIELDS ANALYZED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•  Agency Name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•  Civil Service Title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•  Base Salary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•  Pay Basis (Annual)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•  Fiscal Year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•  Employee Count</a:t>
            </a:r>
          </a:p>
        </p:txBody>
      </p:sp>
      <p:sp>
        <p:nvSpPr>
          <p:cNvPr id="52" name="ScopeCard"/>
          <p:cNvSpPr/>
          <p:nvPr/>
        </p:nvSpPr>
        <p:spPr>
          <a:xfrm>
            <a:off x="609600" y="4100000"/>
            <a:ext cx="10972800" cy="17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216000" tIns="144000" rIns="216000" bIns="14400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SELECTED CIVIL SERVICE TITLES FOR DATA SCIENCE ANALYSIS</a:t>
            </a:r>
          </a:p>
          <a:p>
            <a:pPr algn="l"/>
            <a:r>
              <a:rPr lang="en-US" sz="1200" dirty="0">
                <a:solidFill>
                  <a:srgbClr val="36454F"/>
                </a:solidFill>
                <a:latin typeface="Calibri"/>
                <a:cs typeface="Calibri"/>
              </a:rPr>
              <a:t>Data Analyst   •   City Research Scientist   •   Research Scientist   •   Statistician   •   IT Project Specialist</a:t>
            </a:r>
          </a:p>
          <a:p>
            <a:pPr algn="l"/>
            <a:r>
              <a:rPr lang="en-US" sz="1100" dirty="0">
                <a:solidFill>
                  <a:srgbClr val="7A8A8E"/>
                </a:solidFill>
                <a:latin typeface="Calibri"/>
                <a:cs typeface="Calibri"/>
              </a:rPr>
              <a:t>These titles were chosen as the closest matches to data science roles within NYC’s civil service classification system. Analysis also includes a broader set of similar data, analytics, and IT-related titles for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Total Base Salary Overview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Fiscal Year 2025 Summary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0" y="1200000"/>
            <a:ext cx="9000000" cy="4714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Base Salary Distribution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Normalized with KDE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600000" cy="52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epNum"/>
          <p:cNvSpPr/>
          <p:nvPr/>
        </p:nvSpPr>
        <p:spPr>
          <a:xfrm>
            <a:off x="609600" y="18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1200" b="1" dirty="0">
                <a:solidFill>
                  <a:srgbClr val="A7BEAE"/>
                </a:solidFill>
                <a:latin typeface="Calibri"/>
                <a:cs typeface="Calibri"/>
              </a:rPr>
              <a:t>PART 1</a:t>
            </a:r>
          </a:p>
        </p:txBody>
      </p:sp>
      <p:sp>
        <p:nvSpPr>
          <p:cNvPr id="31" name="Headline"/>
          <p:cNvSpPr/>
          <p:nvPr/>
        </p:nvSpPr>
        <p:spPr>
          <a:xfrm>
            <a:off x="609600" y="2250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800" b="1" dirty="0">
                <a:solidFill>
                  <a:srgbClr val="F2F2F2"/>
                </a:solidFill>
                <a:latin typeface="Georgia"/>
                <a:cs typeface="Georgia"/>
              </a:rPr>
              <a:t>Which agencies drive the citywide payroll budget?</a:t>
            </a:r>
          </a:p>
        </p:txBody>
      </p:sp>
      <p:sp>
        <p:nvSpPr>
          <p:cNvPr id="32" name="Bullets"/>
          <p:cNvSpPr/>
          <p:nvPr/>
        </p:nvSpPr>
        <p:spPr>
          <a:xfrm>
            <a:off x="609600" y="3700000"/>
            <a:ext cx="109728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Total base salary expenditure across all NYC agencies</a:t>
            </a:r>
          </a:p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Salary distribution patterns among ~288,000 employees</a:t>
            </a:r>
          </a:p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Identifying the top 10 agencies by total compensation spend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Top 10 Agencies by Total Base Salary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Active Annual Employees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000" y="1200000"/>
            <a:ext cx="9200000" cy="50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Top 10 Agencies by Total Base Salary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Fiscal Year 2025 • Active Annual Employees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611000" y="1150000"/>
          <a:ext cx="10970000" cy="422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Agency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 Base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Ed Pedagogical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$10,704,877,902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$111,322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$110,848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96,161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Police Department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$4,085,904,654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$90,697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$109,352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45,050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Fire Department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$1,560,078,359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$91,894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$109,352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16,977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Ed Para Professionals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$1,083,075,708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$43,333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$44,420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24,994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Education Admin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$1,042,951,881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$85,642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$82,370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12,178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Sanitation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$777,856,362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$86,843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$92,093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8,957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HRA/Dept of Social Services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$757,657,142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$71,208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$61,376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10,640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Correction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$679,180,443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$99,924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$105,146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6,797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NYC Housing Authority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$597,815,565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$70,848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$54,200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8,438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Admin for Children’s Svcs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$528,408,816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$83,332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$70,156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6,341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epNum"/>
          <p:cNvSpPr/>
          <p:nvPr/>
        </p:nvSpPr>
        <p:spPr>
          <a:xfrm>
            <a:off x="609600" y="18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1200" b="1" dirty="0">
                <a:solidFill>
                  <a:srgbClr val="A7BEAE"/>
                </a:solidFill>
                <a:latin typeface="Calibri"/>
                <a:cs typeface="Calibri"/>
              </a:rPr>
              <a:t>PART 2</a:t>
            </a:r>
          </a:p>
        </p:txBody>
      </p:sp>
      <p:sp>
        <p:nvSpPr>
          <p:cNvPr id="31" name="Headline"/>
          <p:cNvSpPr/>
          <p:nvPr/>
        </p:nvSpPr>
        <p:spPr>
          <a:xfrm>
            <a:off x="609600" y="2250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800" b="1" dirty="0">
                <a:solidFill>
                  <a:srgbClr val="F2F2F2"/>
                </a:solidFill>
                <a:latin typeface="Georgia"/>
                <a:cs typeface="Georgia"/>
              </a:rPr>
              <a:t>Controlling for size: which agencies pay the most per employee?</a:t>
            </a:r>
          </a:p>
        </p:txBody>
      </p:sp>
      <p:sp>
        <p:nvSpPr>
          <p:cNvPr id="32" name="Bullets"/>
          <p:cNvSpPr/>
          <p:nvPr/>
        </p:nvSpPr>
        <p:spPr>
          <a:xfrm>
            <a:off x="609600" y="3700000"/>
            <a:ext cx="109728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Filtering to agencies with 50+ employees for meaningful comparison</a:t>
            </a:r>
          </a:p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Ranking by average base salary rather than total spend</a:t>
            </a:r>
          </a:p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Revealing which smaller, specialized agencies offer the highest pay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Top 10 Agencies by Average Base Salary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Agencies with 50+ Employees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000" y="1200000"/>
            <a:ext cx="9200000" cy="50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Top 10 Agencies by Average Base Salary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Active Annual Employees • Agencies with 50+ Employees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611000" y="1150000"/>
          <a:ext cx="10970000" cy="422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Agency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 Base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Financial Info Svcs Agency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$138,654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$143,540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$54,074,875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390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Office of the Mayor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$138,506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$122,400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$45,430,084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328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Office of Criminal Justice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$128,679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$121,916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$12,353,187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96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District Attorney-Special Narc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$122,914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$107,000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$24,091,151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196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Office of Management &amp; Budget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$119,713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$101,434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$50,399,091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421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Law Department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$116,048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$101,030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$156,200,685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1,346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Technology &amp; Innovation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$114,599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$112,057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$169,491,865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1,479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Mayors Office of Contract Svcs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$113,163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$102,570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$20,369,255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180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Ed Pedagogical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$111,322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$110,848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$10,704,877,902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96,161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Off of Payroll Administration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$109,573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$100,684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$14,354,005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131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epNum"/>
          <p:cNvSpPr/>
          <p:nvPr/>
        </p:nvSpPr>
        <p:spPr>
          <a:xfrm>
            <a:off x="609600" y="18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1200" b="1" dirty="0">
                <a:solidFill>
                  <a:srgbClr val="A7BEAE"/>
                </a:solidFill>
                <a:latin typeface="Calibri"/>
                <a:cs typeface="Calibri"/>
              </a:rPr>
              <a:t>PART 3</a:t>
            </a:r>
          </a:p>
        </p:txBody>
      </p:sp>
      <p:sp>
        <p:nvSpPr>
          <p:cNvPr id="31" name="Headline"/>
          <p:cNvSpPr/>
          <p:nvPr/>
        </p:nvSpPr>
        <p:spPr>
          <a:xfrm>
            <a:off x="609600" y="2250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800" b="1" dirty="0">
                <a:solidFill>
                  <a:srgbClr val="F2F2F2"/>
                </a:solidFill>
                <a:latin typeface="Georgia"/>
                <a:cs typeface="Georgia"/>
              </a:rPr>
              <a:t>Narrowing the focus to data science-related titles</a:t>
            </a:r>
          </a:p>
        </p:txBody>
      </p:sp>
      <p:sp>
        <p:nvSpPr>
          <p:cNvPr id="32" name="Bullets"/>
          <p:cNvSpPr/>
          <p:nvPr/>
        </p:nvSpPr>
        <p:spPr>
          <a:xfrm>
            <a:off x="609600" y="3700000"/>
            <a:ext cx="109728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Comparing compensation for five core civil service titles across agencies</a:t>
            </a:r>
          </a:p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Expanding to similar data, analytics, and IT roles for context</a:t>
            </a:r>
          </a:p>
          <a:p>
            <a:pPr marL="270000" indent="-270000" algn="l">
              <a:buFont typeface="Calibri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/>
                <a:cs typeface="Calibri"/>
              </a:rPr>
              <a:t>Understanding where data professionals are paid the most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050EA-E7CC-DBEB-6A5B-73B3E17F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epNum">
            <a:extLst>
              <a:ext uri="{FF2B5EF4-FFF2-40B4-BE49-F238E27FC236}">
                <a16:creationId xmlns:a16="http://schemas.microsoft.com/office/drawing/2014/main" id="{607CE7F3-74AF-C98E-D91E-3CB1E6E22F16}"/>
              </a:ext>
            </a:extLst>
          </p:cNvPr>
          <p:cNvSpPr/>
          <p:nvPr/>
        </p:nvSpPr>
        <p:spPr>
          <a:xfrm>
            <a:off x="609600" y="18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1200" b="1" dirty="0">
                <a:solidFill>
                  <a:srgbClr val="A7BEAE"/>
                </a:solidFill>
                <a:latin typeface="Calibri"/>
                <a:cs typeface="Calibri"/>
              </a:rPr>
              <a:t>PART 3</a:t>
            </a:r>
          </a:p>
        </p:txBody>
      </p:sp>
      <p:sp>
        <p:nvSpPr>
          <p:cNvPr id="31" name="Headline">
            <a:extLst>
              <a:ext uri="{FF2B5EF4-FFF2-40B4-BE49-F238E27FC236}">
                <a16:creationId xmlns:a16="http://schemas.microsoft.com/office/drawing/2014/main" id="{D699050A-9E8C-8727-6861-6F7A59B9954C}"/>
              </a:ext>
            </a:extLst>
          </p:cNvPr>
          <p:cNvSpPr/>
          <p:nvPr/>
        </p:nvSpPr>
        <p:spPr>
          <a:xfrm>
            <a:off x="609600" y="2250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800" b="1" dirty="0">
                <a:solidFill>
                  <a:srgbClr val="F2F2F2"/>
                </a:solidFill>
                <a:latin typeface="Georgia"/>
                <a:cs typeface="Georgia"/>
              </a:rPr>
              <a:t>Core Data: </a:t>
            </a:r>
          </a:p>
        </p:txBody>
      </p:sp>
      <p:sp>
        <p:nvSpPr>
          <p:cNvPr id="32" name="Bullets">
            <a:extLst>
              <a:ext uri="{FF2B5EF4-FFF2-40B4-BE49-F238E27FC236}">
                <a16:creationId xmlns:a16="http://schemas.microsoft.com/office/drawing/2014/main" id="{992E5EB2-8A50-0332-2960-2D268AC11DB1}"/>
              </a:ext>
            </a:extLst>
          </p:cNvPr>
          <p:cNvSpPr/>
          <p:nvPr/>
        </p:nvSpPr>
        <p:spPr>
          <a:xfrm>
            <a:off x="609600" y="2985385"/>
            <a:ext cx="109728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RESEARCH SCIENTIST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PROJECT SPECIALIST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STATISTICIAN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26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Core Data Science Titles: Salary Comparison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Mean Base Salary by Civil Service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1300000"/>
            <a:ext cx="10000000" cy="45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Core Data Science Titles: Salary Breakdown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Mean Base Salary by Civil Service Title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611000" y="1500000"/>
          <a:ext cx="10970000" cy="217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 Project Specialist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$127,877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$127,830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288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City Research Scientist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$107,782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$106,396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1,513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Statistician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$75,429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$74,926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Core Data Science Titles by Agency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Highest-Paying Agencies for Selected Civil Service Titles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000" y="1200000"/>
            <a:ext cx="9200000" cy="50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Core Data Science Titles: Top Agencies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Highest-Paying Agencies for Selected Civil Service Titles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611000" y="1150000"/>
          <a:ext cx="10970000" cy="422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Agency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 Base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Financial Info Svcs Agency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$143,802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$140,913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$2,013,225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Technology &amp; Innovation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$129,353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$130,053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$6,079,598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Department of Finance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$124,711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$112,883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$2,618,936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HRA/Dept of Social Services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$121,323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$125,505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189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$22,930,129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Bronx District Attorney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$120,344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$123,900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$1,323,787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Transportation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$118,721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$114,438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$3,561,642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Fire Department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$117,483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$117,194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$1,997,207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Sanitation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$112,926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$105,428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$1,355,111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Business Serv.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$111,446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$111,665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$1,114,461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Police Department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$111,282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$109,232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$4,339,980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AB887-20BC-B614-D747-28A3E1E0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epNum">
            <a:extLst>
              <a:ext uri="{FF2B5EF4-FFF2-40B4-BE49-F238E27FC236}">
                <a16:creationId xmlns:a16="http://schemas.microsoft.com/office/drawing/2014/main" id="{B08FB37A-C220-8655-0F46-6DB90953C5FB}"/>
              </a:ext>
            </a:extLst>
          </p:cNvPr>
          <p:cNvSpPr/>
          <p:nvPr/>
        </p:nvSpPr>
        <p:spPr>
          <a:xfrm>
            <a:off x="609600" y="18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1200" b="1" dirty="0">
                <a:solidFill>
                  <a:srgbClr val="A7BEAE"/>
                </a:solidFill>
                <a:latin typeface="Calibri"/>
                <a:cs typeface="Calibri"/>
              </a:rPr>
              <a:t>PART 3</a:t>
            </a:r>
          </a:p>
        </p:txBody>
      </p:sp>
      <p:sp>
        <p:nvSpPr>
          <p:cNvPr id="31" name="Headline">
            <a:extLst>
              <a:ext uri="{FF2B5EF4-FFF2-40B4-BE49-F238E27FC236}">
                <a16:creationId xmlns:a16="http://schemas.microsoft.com/office/drawing/2014/main" id="{1FCF68C1-4EA9-EC53-AD40-5F19982C2390}"/>
              </a:ext>
            </a:extLst>
          </p:cNvPr>
          <p:cNvSpPr/>
          <p:nvPr/>
        </p:nvSpPr>
        <p:spPr>
          <a:xfrm>
            <a:off x="609600" y="2250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800" b="1" dirty="0">
                <a:solidFill>
                  <a:srgbClr val="F2F2F2"/>
                </a:solidFill>
                <a:latin typeface="Georgia"/>
                <a:cs typeface="Georgia"/>
              </a:rPr>
              <a:t>Similar Data: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CEB2E-9344-DB0B-2C91-D67EEB918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92" y="2930820"/>
            <a:ext cx="1064750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RESEARCH SCIENTIST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PROJECT SPECIALIST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STATISTICIAN</a:t>
            </a:r>
            <a:endParaRPr lang="en-US" alt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RESEARCH &amp; DATA ANALYTICS SPECIALIST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DATA AND REPORTING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CRIME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 SECURITY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SECURITY SPECIALIST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IT ARCHITECT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INFRASTRUCTURE ENGINEER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AUTOMATION AND MONITORING ENGINEER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PROGRAMMER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SPECIALIST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ASSOCIATE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ADMINISTRATIVE STAFF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ASSOCIATE STAFF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CERTIFIED IT DEVELOPER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DATA ANALYST</a:t>
            </a:r>
          </a:p>
        </p:txBody>
      </p:sp>
    </p:spTree>
    <p:extLst>
      <p:ext uri="{BB962C8B-B14F-4D97-AF65-F5344CB8AC3E}">
        <p14:creationId xmlns:p14="http://schemas.microsoft.com/office/powerpoint/2010/main" val="1554319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Similar Titles: Salary Comparison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Top 10 Data/Analytics/IT Titles by Mean Base Salary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1200000"/>
            <a:ext cx="10000000" cy="52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Similar Titles: Salary Breakdown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Top 10 Data/Analytics/IT Titles by Mean Base Salary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611000" y="1150000"/>
          <a:ext cx="10970000" cy="422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Senior IT Architect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$158,566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$158,290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70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 Security Specialist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$151,028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$152,313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98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 Infrastructure Engineer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$144,911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$147,877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50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Administrative Staff Analyst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$140,589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$128,640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1,887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Certified IT Developer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$137,319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$138,368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224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 Project Specialist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$127,877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$127,830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288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Computer Specialist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$124,830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$123,208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1,248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 Automation &amp; Monitoring Engineer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$116,261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$117,474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50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City Research Scientist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$107,782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$106,396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1,513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Business Research &amp; Data Analytics Specialist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$106,643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$100,904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Similar Data/Analytics Titles by Agency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Related IT and Research Positions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1200000"/>
            <a:ext cx="10000000" cy="5200000"/>
          </a:xfrm>
          <a:prstGeom prst="rect">
            <a:avLst/>
          </a:prstGeom>
        </p:spPr>
      </p:pic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609600" y="180000"/>
            <a:ext cx="109728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2400" b="1" dirty="0">
                <a:solidFill>
                  <a:srgbClr val="36454F"/>
                </a:solidFill>
                <a:latin typeface="Georgia"/>
                <a:cs typeface="Georgia"/>
              </a:rPr>
              <a:t>Similar Data/Analytics Titles: Top Agencies</a:t>
            </a:r>
          </a:p>
        </p:txBody>
      </p:sp>
      <p:sp>
        <p:nvSpPr>
          <p:cNvPr id="21" name="SlideSubtitle"/>
          <p:cNvSpPr/>
          <p:nvPr/>
        </p:nvSpPr>
        <p:spPr>
          <a:xfrm>
            <a:off x="609600" y="700000"/>
            <a:ext cx="109728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5A6A6E"/>
                </a:solidFill>
                <a:latin typeface="Calibri"/>
                <a:cs typeface="Calibri"/>
              </a:rPr>
              <a:t>Related IT and Research Positions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611000" y="1150000"/>
          <a:ext cx="10970000" cy="422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Agency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 Base Salary</a:t>
                      </a:r>
                    </a:p>
                  </a:txBody>
                  <a:tcPr marL="72000" marR="72000" marT="36000" marB="36000" anchor="ctr">
                    <a:lnB w="6096" cap="flat" cmpd="sng" algn="ctr">
                      <a:solidFill>
                        <a:srgbClr val="36454F"/>
                      </a:solidFill>
                      <a:prstDash val="solid"/>
                      <a:round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District Attorney Qns County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$143,925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$138,846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$2,590,650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Education Admin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$133,385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$132,170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514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$68,560,037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District Attorney Kings County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$132,872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$129,624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$1,727,342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NYC Housing Authority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$129,626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$118,421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239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$30,980,635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Consumer and Worker Protection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$128,305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$121,650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$5,773,738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Bronx District Attorney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$128,069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$132,934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25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$3,201,720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Youth &amp; Comm Dev Srvs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$127,630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$123,208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94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$11,997,252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 of Sanitation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$127,509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$120,524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156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$19,891,478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NYC Employees Retirement Sys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$125,994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$120,468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$5,795,711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Financial Info Svcs Agency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$125,269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$128,206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146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$18,289,308</a:t>
                      </a:r>
                    </a:p>
                  </a:txBody>
                  <a:tcPr marL="72000" marR="72000" marT="36000" marB="36000" anchor="ctr">
                    <a:lnT w="6096" cap="flat" cmpd="sng" algn="ctr">
                      <a:solidFill>
                        <a:srgbClr val="D8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8D6D3"/>
                      </a:solidFill>
                      <a:prstDash val="solid"/>
                      <a:round/>
                    </a:lnB>
                    <a:solidFill>
                      <a:srgbClr val="F0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Footer"/>
          <p:cNvSpPr/>
          <p:nvPr/>
        </p:nvSpPr>
        <p:spPr>
          <a:xfrm>
            <a:off x="609600" y="6500000"/>
            <a:ext cx="109728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  <a:cs typeface="Calibri"/>
              </a:rPr>
              <a:t>Source: NYC OpenData – Office of Payroll Administration  |  Fiscal Year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609600" y="350000"/>
            <a:ext cx="3200000" cy="5400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SlideTitle"/>
          <p:cNvSpPr/>
          <p:nvPr/>
        </p:nvSpPr>
        <p:spPr>
          <a:xfrm>
            <a:off x="609600" y="480000"/>
            <a:ext cx="109728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F2F2F2"/>
                </a:solidFill>
                <a:latin typeface="Georgia"/>
                <a:cs typeface="Georgia"/>
              </a:rPr>
              <a:t>Key Findings</a:t>
            </a:r>
          </a:p>
        </p:txBody>
      </p:sp>
      <p:sp>
        <p:nvSpPr>
          <p:cNvPr id="60" name="F1"/>
          <p:cNvSpPr/>
          <p:nvPr/>
        </p:nvSpPr>
        <p:spPr>
          <a:xfrm>
            <a:off x="609600" y="1200000"/>
            <a:ext cx="109728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Q1  •  WHICH AGENCIES SPEND THE MOST ON COMPENSATION?</a:t>
            </a:r>
          </a:p>
          <a:p>
            <a:pPr algn="l"/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>Dept of Ed Pedagogical leads at $10.7B — more than the next three agencies combined.</a:t>
            </a:r>
          </a:p>
          <a:p>
            <a:pPr algn="l"/>
            <a:r>
              <a:rPr lang="en-US" sz="1200" dirty="0">
                <a:solidFill>
                  <a:srgbClr val="BBBBBB"/>
                </a:solidFill>
                <a:latin typeface="Calibri"/>
                <a:cs typeface="Calibri"/>
              </a:rPr>
              <a:t>Total spend is driven by headcount (96K employees), not high individual salaries. Police and Fire round out the top three.</a:t>
            </a:r>
          </a:p>
        </p:txBody>
      </p:sp>
      <p:sp>
        <p:nvSpPr>
          <p:cNvPr id="61" name="F2"/>
          <p:cNvSpPr/>
          <p:nvPr/>
        </p:nvSpPr>
        <p:spPr>
          <a:xfrm>
            <a:off x="609600" y="2800000"/>
            <a:ext cx="109728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Q2  •  WHICH AGENCIES HAVE THE HIGHEST AVERAGE SALARIES?</a:t>
            </a:r>
          </a:p>
          <a:p>
            <a:pPr algn="l"/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>Financial Info Svcs Agency tops the list at $139K average — smaller agencies pay more per employee.</a:t>
            </a:r>
          </a:p>
          <a:p>
            <a:pPr algn="l"/>
            <a:r>
              <a:rPr lang="en-US" sz="1200" dirty="0">
                <a:solidFill>
                  <a:srgbClr val="BBBBBB"/>
                </a:solidFill>
                <a:latin typeface="Calibri"/>
                <a:cs typeface="Calibri"/>
              </a:rPr>
              <a:t>The Office of the Mayor ($139K) and Office of Criminal Justice ($129K) follow. Technical and policy-focused agencies command a premium.</a:t>
            </a:r>
          </a:p>
        </p:txBody>
      </p:sp>
      <p:sp>
        <p:nvSpPr>
          <p:cNvPr id="62" name="F3"/>
          <p:cNvSpPr/>
          <p:nvPr/>
        </p:nvSpPr>
        <p:spPr>
          <a:xfrm>
            <a:off x="609600" y="4400000"/>
            <a:ext cx="109728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00" b="1" dirty="0">
                <a:solidFill>
                  <a:srgbClr val="A7BEAE"/>
                </a:solidFill>
                <a:latin typeface="Calibri"/>
                <a:cs typeface="Calibri"/>
              </a:rPr>
              <a:t>Q3  •  WHICH AGENCIES PAY DATA SCIENCE ROLES THE MOST?</a:t>
            </a:r>
          </a:p>
          <a:p>
            <a:pPr algn="l"/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>Financial Info Svcs Agency again leads at $144K — agency choice matters more than title alone.</a:t>
            </a:r>
          </a:p>
          <a:p>
            <a:pPr algn="l"/>
            <a:r>
              <a:rPr lang="en-US" sz="1200" dirty="0">
                <a:solidFill>
                  <a:srgbClr val="BBBBBB"/>
                </a:solidFill>
                <a:latin typeface="Calibri"/>
                <a:cs typeface="Calibri"/>
              </a:rPr>
              <a:t>Technology &amp; Innovation ($129K) and Dept of Finance ($125K) follow. The same title can vary by $30K+ depending on agency.</a:t>
            </a:r>
          </a:p>
        </p:txBody>
      </p:sp>
      <p:sp>
        <p:nvSpPr>
          <p:cNvPr id="22" name="Footer"/>
          <p:cNvSpPr/>
          <p:nvPr/>
        </p:nvSpPr>
        <p:spPr>
          <a:xfrm>
            <a:off x="609600" y="620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>
            <a:noAutofit/>
          </a:bodyPr>
          <a:lstStyle/>
          <a:p>
            <a:pPr algn="l"/>
            <a:r>
              <a:rPr lang="en-US" sz="1100" dirty="0">
                <a:solidFill>
                  <a:srgbClr val="888888"/>
                </a:solidFill>
                <a:latin typeface="Calibri"/>
                <a:cs typeface="Calibri"/>
              </a:rPr>
              <a:t>NYC Citywide Payroll Data Analysis  |  Fiscal Year 2025  |  NYC OpenData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1576</Words>
  <Application>Microsoft Office PowerPoint</Application>
  <PresentationFormat>Widescreen</PresentationFormat>
  <Paragraphs>408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Georgia</vt:lpstr>
      <vt:lpstr>Office Theme</vt:lpstr>
      <vt:lpstr>NYC Citywide Payroll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Ganz</dc:creator>
  <cp:lastModifiedBy>Shawn Ganz</cp:lastModifiedBy>
  <cp:revision>4</cp:revision>
  <dcterms:created xsi:type="dcterms:W3CDTF">2026-05-15T02:40:52Z</dcterms:created>
  <dcterms:modified xsi:type="dcterms:W3CDTF">2026-05-15T05:57:15Z</dcterms:modified>
</cp:coreProperties>
</file>