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6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5E59"/>
    <a:srgbClr val="0D9488"/>
    <a:srgbClr val="64748B"/>
    <a:srgbClr val="44546A"/>
    <a:srgbClr val="F0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9" autoAdjust="0"/>
    <p:restoredTop sz="74227" autoAdjust="0"/>
  </p:normalViewPr>
  <p:slideViewPr>
    <p:cSldViewPr snapToGrid="0">
      <p:cViewPr varScale="1">
        <p:scale>
          <a:sx n="95" d="100"/>
          <a:sy n="95" d="100"/>
        </p:scale>
        <p:origin x="62" y="1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411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Wilcoxon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-   It takes all restaurants in the test.</a:t>
            </a:r>
          </a:p>
          <a:p>
            <a:pPr marL="171450" indent="-171450">
              <a:buFontTx/>
              <a:buChar char="-"/>
            </a:pPr>
            <a:r>
              <a:rPr lang="en-US" dirty="0"/>
              <a:t>It ranks their values, like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critical_violations</a:t>
            </a:r>
            <a:r>
              <a:rPr lang="en-US" dirty="0"/>
              <a:t>. </a:t>
            </a:r>
          </a:p>
          <a:p>
            <a:pPr marL="171450" indent="-171450">
              <a:buFontTx/>
              <a:buChar char="-"/>
            </a:pPr>
            <a:r>
              <a:rPr lang="en-US" dirty="0"/>
              <a:t>It keeps track of which group each restaurant belongs to: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NYT</a:t>
            </a:r>
            <a:r>
              <a:rPr lang="en-US" dirty="0"/>
              <a:t> 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non-NYT</a:t>
            </a:r>
            <a:r>
              <a:rPr lang="en-US" dirty="0"/>
              <a:t>. </a:t>
            </a:r>
          </a:p>
          <a:p>
            <a:pPr marL="171450" indent="-171450">
              <a:buFontTx/>
              <a:buChar char="-"/>
            </a:pPr>
            <a:r>
              <a:rPr lang="en-US" dirty="0"/>
              <a:t>It adds the ranks for one group. </a:t>
            </a:r>
          </a:p>
          <a:p>
            <a:pPr marL="171450" indent="-171450">
              <a:buFontTx/>
              <a:buChar char="-"/>
            </a:pPr>
            <a:r>
              <a:rPr lang="en-US" dirty="0"/>
              <a:t>It compares that rank total against what rank totals would look like </a:t>
            </a:r>
            <a:r>
              <a:rPr lang="en-US" b="1" dirty="0"/>
              <a:t>if group labels were basically random</a:t>
            </a:r>
            <a:r>
              <a:rPr lang="en-US" dirty="0"/>
              <a:t>. 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p-value is the chance of getting a rank imbalance that extreme, assuming no real difference between groups.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 = (observed - expected) / standard error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NYC Restaurant Inspections</a:t>
            </a:r>
            <a:endParaRPr lang="en-US" sz="3800" dirty="0">
              <a:solidFill>
                <a:srgbClr val="0D9488"/>
              </a:solidFill>
            </a:endParaRPr>
          </a:p>
          <a:p>
            <a:pPr marL="0" indent="0" algn="l">
              <a:buNone/>
            </a:pPr>
            <a:r>
              <a:rPr lang="en-US" sz="32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"Best Restaurant" Recognition</a:t>
            </a:r>
            <a:endParaRPr lang="en-US" sz="3800" dirty="0">
              <a:solidFill>
                <a:srgbClr val="0D9488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3716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Shawn Ganz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14400" y="1645920"/>
            <a:ext cx="7315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80160" y="1828800"/>
            <a:ext cx="6583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NYT-recognized NYC restaurants have better health inspection outcomes than non-NYT restaurants?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5661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3716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Background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26517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resident and former waiter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Firsthand experience with restaurant industry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curiosity about food safety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1097280"/>
            <a:ext cx="35661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3716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Practical Question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303520" y="26517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"good restaurant" mean "cleaner restaurant"?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critical acclaim linked to food safety?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ordering from a C-rated spot vs. an A?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22860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NYC DOHMH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25603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inspection results from NYC OpenData — grades, violations, severity scores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29000" y="1188720"/>
            <a:ext cx="22860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5087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1188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NYT Top 100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703320" y="25603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Times list of the best NYC restaurants (2025) — top 10 ordinal, rest alphabetical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1188720"/>
            <a:ext cx="22860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5087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Yelp (Dropped)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46520" y="256032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planned, but NYC was not included in the Yelp Open Dataset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+ Matching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760220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602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228600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220" y="19659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Names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2880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Lowercased and trimmed restaurant names in both datasets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6260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3662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29000" y="1783080"/>
            <a:ext cx="228600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19659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Records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57600" y="2880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NYT restaurants to DOHMH records by cleaned name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972300" y="1188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97230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035040" y="1783080"/>
            <a:ext cx="228600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19659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 Duplicates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263640" y="28803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mapped duplicate names/locations to correct CAMIS IDs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Dataset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2286000" cy="146304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NYT Top 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restaurants (ordinal)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2286000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1188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NYT 11-100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1188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NYT restaurants (alphabetical)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2286000" cy="14630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508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Non-NYT Sample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random non-NYT restaurants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" y="347472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150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1500" y="4023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B / C letter grade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83180" y="347472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203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Violations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20340" y="4023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per latest inspection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2020" y="347472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918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Violations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69180" y="4023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Critical-flagged violations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80860" y="347472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1802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Severity Score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18020" y="4023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Critical=2, Not Critical=1, N/A=0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 Results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4747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NON-NYT RESTAURANTS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89.8%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34747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 RESTAURANTS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1691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82.9%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12064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3291840"/>
          <a:ext cx="6949440" cy="122529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Metric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Non-NYT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NYT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Total Violations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Critical Violations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Severity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00A67B-D308-2F22-1D38-3DDEC3540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EC0EF12-4D77-03CD-CD11-C94CCE588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23E692F-26C8-4AA4-721F-113AE1738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2EF883B-0514-EEFD-640C-4F37C79FD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9028D03-4FF7-6F25-D9D8-C7E2F9DE3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BC7ED2FE-70F9-1A67-AF1B-09D656890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996D4857-E250-5CC2-9684-47259B584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9CB029-BC11-2BC2-DCF5-E7F4972FF1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86805" y="482600"/>
            <a:ext cx="6770389" cy="417829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4003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Tests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3152" cy="13716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A-Grade Proportions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73152" cy="13716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Test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Violations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393,565  |  p = 0.300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2743200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Test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Violations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749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357,093  |  p = 0.009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74320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Test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Severity Scores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3749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368,117  |  p = 0.046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level: α = 0.05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2B807-E7E4-F689-D97A-7C262B4F0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186804" y="482600"/>
            <a:ext cx="6770391" cy="417829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4930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>
            <a:extLst>
              <a:ext uri="{FF2B5EF4-FFF2-40B4-BE49-F238E27FC236}">
                <a16:creationId xmlns:a16="http://schemas.microsoft.com/office/drawing/2014/main" id="{60F52F10-4AA8-E614-C15C-68648D5EED0F}"/>
              </a:ext>
            </a:extLst>
          </p:cNvPr>
          <p:cNvSpPr/>
          <p:nvPr/>
        </p:nvSpPr>
        <p:spPr>
          <a:xfrm>
            <a:off x="1798320" y="1188720"/>
            <a:ext cx="6431280" cy="91440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>
              <a:solidFill>
                <a:schemeClr val="tx2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17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2801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 restaurants did not show better inspection outcomes than non-NYT restaurants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798320" y="2377440"/>
            <a:ext cx="6431280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6060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24688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violations and severity scores were significantly higher among NYT restaurants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1798320" y="3566160"/>
            <a:ext cx="6431280" cy="9144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7947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20240" y="3657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"Acclaimed" does not necessarily mean "cleaner" — food quality recognition and food safety are separate dimensions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479</Words>
  <Application>Microsoft Office PowerPoint</Application>
  <PresentationFormat>On-screen Show (16:9)</PresentationFormat>
  <Paragraphs>116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Shawn Ganz</dc:creator>
  <cp:lastModifiedBy>Shawn Ganz</cp:lastModifiedBy>
  <cp:revision>4</cp:revision>
  <dcterms:created xsi:type="dcterms:W3CDTF">2026-05-12T22:44:40Z</dcterms:created>
  <dcterms:modified xsi:type="dcterms:W3CDTF">2026-05-13T00:26:12Z</dcterms:modified>
</cp:coreProperties>
</file>